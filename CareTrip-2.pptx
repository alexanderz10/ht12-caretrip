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2D6A4F">
              <a:alpha val="20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3200400"/>
            <a:ext cx="7315200" cy="7315200"/>
          </a:xfrm>
          <a:prstGeom prst="ellipse">
            <a:avLst/>
          </a:prstGeom>
          <a:solidFill>
            <a:srgbClr val="2D6A4F">
              <a:alpha val="15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4572000"/>
            <a:ext cx="4572000" cy="4572000"/>
          </a:xfrm>
          <a:prstGeom prst="ellipse">
            <a:avLst/>
          </a:prstGeom>
          <a:solidFill>
            <a:srgbClr val="52B788">
              <a:alpha val="10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0" y="457200"/>
            <a:ext cx="2468880" cy="502920"/>
          </a:xfrm>
          <a:prstGeom prst="roundRect">
            <a:avLst>
              <a:gd name="adj" fmla="val 49091"/>
            </a:avLst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0" y="457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HackTUES 12 · Code to Care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CareTrip</a:t>
            </a:r>
            <a:endParaRPr lang="en-US" sz="9600" dirty="0"/>
          </a:p>
        </p:txBody>
      </p:sp>
      <p:sp>
        <p:nvSpPr>
          <p:cNvPr id="8" name="Shape 6"/>
          <p:cNvSpPr/>
          <p:nvPr/>
        </p:nvSpPr>
        <p:spPr>
          <a:xfrm>
            <a:off x="777240" y="3429000"/>
            <a:ext cx="109728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611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95D5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group travel planning.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31520" y="4160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5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idea to booking in one conversation.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31520" y="5943600"/>
            <a:ext cx="36576" cy="4572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5943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6144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triple-drible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32320" y="6263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Представяне пред журито · Март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ПРОБЛЕМ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Проблемът и настоящите решения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Планирането на групово пътуване е хаотично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640080" cy="640080"/>
          </a:xfrm>
          <a:prstGeom prst="ellipse">
            <a:avLst/>
          </a:prstGeom>
          <a:solidFill>
            <a:srgbClr val="23404A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58775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4414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Разпръснати разговори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371600" y="27706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5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Идеи се губят между 3–4 чата и бележки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291840"/>
            <a:ext cx="640080" cy="640080"/>
          </a:xfrm>
          <a:prstGeom prst="ellipse">
            <a:avLst/>
          </a:prstGeom>
          <a:solidFill>
            <a:srgbClr val="23404A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45643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33101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Часове търсене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371600" y="36393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5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Flight, Booking, Google Maps — всичко поотделно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160520"/>
            <a:ext cx="640080" cy="640080"/>
          </a:xfrm>
          <a:prstGeom prst="ellipse">
            <a:avLst/>
          </a:prstGeom>
          <a:solidFill>
            <a:srgbClr val="23404A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325112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41788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Неясни разходи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71600" y="45079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5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Кой кому колко дължи след пътуването?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" y="5029200"/>
            <a:ext cx="640080" cy="640080"/>
          </a:xfrm>
          <a:prstGeom prst="ellipse">
            <a:avLst/>
          </a:prstGeom>
          <a:solidFill>
            <a:srgbClr val="23404A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93792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71600" y="50474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Липса на координация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1371600" y="53766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5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Няма общо място за групата и плановете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6675120" y="1828800"/>
            <a:ext cx="4937760" cy="4206240"/>
          </a:xfrm>
          <a:prstGeom prst="roundRect">
            <a:avLst>
              <a:gd name="adj" fmla="val 2609"/>
            </a:avLst>
          </a:prstGeom>
          <a:solidFill>
            <a:srgbClr val="1A2F32"/>
          </a:solidFill>
          <a:ln w="12700">
            <a:solidFill>
              <a:srgbClr val="2D4A4E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694944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Сегашните решения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949440" y="2331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5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…и защо не са достатъчни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949440" y="2907792"/>
            <a:ext cx="54864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7132320" y="2834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Messenger / WhatsApp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7132320" y="30906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5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Хаос, няма структурирани планове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949440" y="3502152"/>
            <a:ext cx="54864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7132320" y="34290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/ Skyscanner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7132320" y="36850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5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Всеки сайт поотделно, без контекст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6949440" y="4096512"/>
            <a:ext cx="54864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132320" y="4023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Docs / Sheets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7132320" y="42793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5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Ръчно, без AI, без плащания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6949440" y="4690872"/>
            <a:ext cx="54864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7132320" y="4617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Splitwise</a:t>
            </a:r>
            <a:endParaRPr lang="en-US" sz="1300" dirty="0"/>
          </a:p>
        </p:txBody>
      </p:sp>
      <p:sp>
        <p:nvSpPr>
          <p:cNvPr id="36" name="Text 30"/>
          <p:cNvSpPr/>
          <p:nvPr/>
        </p:nvSpPr>
        <p:spPr>
          <a:xfrm>
            <a:off x="7132320" y="48737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5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 разходи — без планиране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6949440" y="5285232"/>
            <a:ext cx="54864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7132320" y="52120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TripAdvisor / ChatGPT</a:t>
            </a:r>
            <a:endParaRPr lang="en-US" sz="1300" dirty="0"/>
          </a:p>
        </p:txBody>
      </p:sp>
      <p:sp>
        <p:nvSpPr>
          <p:cNvPr id="39" name="Text 33"/>
          <p:cNvSpPr/>
          <p:nvPr/>
        </p:nvSpPr>
        <p:spPr>
          <a:xfrm>
            <a:off x="7132320" y="54681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5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Съвети, но без реални оферти</a:t>
            </a:r>
            <a:endParaRPr lang="en-US" sz="1100" dirty="0"/>
          </a:p>
        </p:txBody>
      </p:sp>
      <p:sp>
        <p:nvSpPr>
          <p:cNvPr id="40" name="Text 34"/>
          <p:cNvSpPr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CareTrip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  <p:sp>
        <p:nvSpPr>
          <p:cNvPr id="42" name="Text 36"/>
          <p:cNvSpPr/>
          <p:nvPr/>
        </p:nvSpPr>
        <p:spPr>
          <a:xfrm>
            <a:off x="425196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together. Travel smarter.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ИДЕЯ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Цел на проекта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4884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9659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 превърнем хаоса от груповите чатове в един структуриран,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737360" y="23317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AI-асистиран процес — от идея до резервация.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737360" y="2788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Едно приложение за всичко: планиране, офертa, резервация, споделяне, разделяне на сметки.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5661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НАШИТЕ ТРИ СТЪЛБА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3931920"/>
            <a:ext cx="3657600" cy="2331720"/>
          </a:xfrm>
          <a:prstGeom prst="roundRect">
            <a:avLst>
              <a:gd name="adj" fmla="val 4706"/>
            </a:avLst>
          </a:prstGeom>
          <a:solidFill>
            <a:srgbClr val="1A2F32"/>
          </a:solidFill>
          <a:ln w="12700">
            <a:solidFill>
              <a:srgbClr val="2D4A4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3931920"/>
            <a:ext cx="365760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2960" y="4206240"/>
            <a:ext cx="640080" cy="640080"/>
          </a:xfrm>
          <a:prstGeom prst="ellipse">
            <a:avLst/>
          </a:prstGeom>
          <a:solidFill>
            <a:srgbClr val="0D1B1E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4370832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83280" y="41148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822960" y="4983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Разговорно планиране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822960" y="53492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5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 чат с AI води потребителя през бюджет, дати, дестинация и транспорт — вместо 10 табa.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434840" y="3931920"/>
            <a:ext cx="3657600" cy="2331720"/>
          </a:xfrm>
          <a:prstGeom prst="roundRect">
            <a:avLst>
              <a:gd name="adj" fmla="val 4706"/>
            </a:avLst>
          </a:prstGeom>
          <a:solidFill>
            <a:srgbClr val="1A2F32"/>
          </a:solidFill>
          <a:ln w="12700">
            <a:solidFill>
              <a:srgbClr val="2D4A4E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434840" y="3931920"/>
            <a:ext cx="365760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709160" y="4206240"/>
            <a:ext cx="640080" cy="640080"/>
          </a:xfrm>
          <a:prstGeom prst="ellipse">
            <a:avLst/>
          </a:prstGeom>
          <a:solidFill>
            <a:srgbClr val="0D1B1E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2" y="4370832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269480" y="41148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4709160" y="4983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Групова координация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4709160" y="53492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5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Пътуващите споделят планове, гласуват за идеи и виждат всичко в едно общо пространство.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8321040" y="3931920"/>
            <a:ext cx="3657600" cy="2331720"/>
          </a:xfrm>
          <a:prstGeom prst="roundRect">
            <a:avLst>
              <a:gd name="adj" fmla="val 4706"/>
            </a:avLst>
          </a:prstGeom>
          <a:solidFill>
            <a:srgbClr val="1A2F32"/>
          </a:solidFill>
          <a:ln w="12700">
            <a:solidFill>
              <a:srgbClr val="2D4A4E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8321040" y="3931920"/>
            <a:ext cx="365760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8595360" y="4206240"/>
            <a:ext cx="640080" cy="640080"/>
          </a:xfrm>
          <a:prstGeom prst="ellipse">
            <a:avLst/>
          </a:prstGeom>
          <a:solidFill>
            <a:srgbClr val="0D1B1E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9952" y="4370832"/>
            <a:ext cx="310896" cy="31089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1155680" y="41148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30" name="Text 24"/>
          <p:cNvSpPr/>
          <p:nvPr/>
        </p:nvSpPr>
        <p:spPr>
          <a:xfrm>
            <a:off x="8595360" y="4983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Плащания и разходи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8595360" y="53492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5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резервации и автоматично разделяне на груповите сметки — край на неудобните разговори за пари.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CareTrip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425196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together. Travel smarter.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РЕШЕНИЕ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Нашето решение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5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CareTrip обединява 5 екрана в едно мобилно приложение — iOS, Android и Web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1A2F32"/>
          </a:solidFill>
          <a:ln w="12700">
            <a:solidFill>
              <a:srgbClr val="2D4A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011680"/>
            <a:ext cx="73152" cy="19659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0D1B1E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350008"/>
            <a:ext cx="283464" cy="2834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22677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Планер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2960" y="29260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Разговор с Gemini 2.5 Flash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Ден-по-ден маршрут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Реални оферти и цени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297680" y="201168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1A2F32"/>
          </a:solidFill>
          <a:ln w="12700">
            <a:solidFill>
              <a:srgbClr val="2D4A4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97680" y="2011680"/>
            <a:ext cx="73152" cy="19659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0" y="2240280"/>
            <a:ext cx="502920" cy="502920"/>
          </a:xfrm>
          <a:prstGeom prst="ellipse">
            <a:avLst/>
          </a:prstGeom>
          <a:solidFill>
            <a:srgbClr val="0D1B1E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2350008"/>
            <a:ext cx="283464" cy="28346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12080" y="22677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572000" y="29260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Персонализирани препоръки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Интерактивна карта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Галерии със снимки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046720" y="201168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1A2F32"/>
          </a:solidFill>
          <a:ln w="12700">
            <a:solidFill>
              <a:srgbClr val="2D4A4E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046720" y="2011680"/>
            <a:ext cx="73152" cy="19659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321040" y="2240280"/>
            <a:ext cx="502920" cy="502920"/>
          </a:xfrm>
          <a:prstGeom prst="ellipse">
            <a:avLst/>
          </a:prstGeom>
          <a:solidFill>
            <a:srgbClr val="0D1B1E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2350008"/>
            <a:ext cx="283464" cy="28346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961120" y="22677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Групи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8321040" y="29260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Публични или частни групи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чат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requests и гласуване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548640" y="416052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1A2F32"/>
          </a:solidFill>
          <a:ln w="12700">
            <a:solidFill>
              <a:srgbClr val="2D4A4E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48640" y="4160520"/>
            <a:ext cx="73152" cy="19659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822960" y="4389120"/>
            <a:ext cx="502920" cy="502920"/>
          </a:xfrm>
          <a:prstGeom prst="ellipse">
            <a:avLst/>
          </a:prstGeom>
          <a:solidFill>
            <a:srgbClr val="0D1B1E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498848"/>
            <a:ext cx="283464" cy="28346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463040" y="44165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Резервации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822960" y="50749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 · Hotels · Buses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Stripe, Apple Pay, Google Pay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checkout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4297680" y="416052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1A2F32"/>
          </a:solidFill>
          <a:ln w="12700">
            <a:solidFill>
              <a:srgbClr val="2D4A4E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4297680" y="4160520"/>
            <a:ext cx="73152" cy="19659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4572000" y="4389120"/>
            <a:ext cx="502920" cy="502920"/>
          </a:xfrm>
          <a:prstGeom prst="ellipse">
            <a:avLst/>
          </a:prstGeom>
          <a:solidFill>
            <a:srgbClr val="0D1B1E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728" y="4498848"/>
            <a:ext cx="283464" cy="28346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212080" y="44165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Споделени разходи</a:t>
            </a:r>
            <a:endParaRPr lang="en-US" sz="1600" dirty="0"/>
          </a:p>
        </p:txBody>
      </p:sp>
      <p:sp>
        <p:nvSpPr>
          <p:cNvPr id="35" name="Text 28"/>
          <p:cNvSpPr/>
          <p:nvPr/>
        </p:nvSpPr>
        <p:spPr>
          <a:xfrm>
            <a:off x="4572000" y="50749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payment или reimbursement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Свързване с резервации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Автоматично проследяване</a:t>
            </a:r>
            <a:endParaRPr lang="en-US" sz="1150" dirty="0"/>
          </a:p>
        </p:txBody>
      </p:sp>
      <p:sp>
        <p:nvSpPr>
          <p:cNvPr id="36" name="Shape 29"/>
          <p:cNvSpPr/>
          <p:nvPr/>
        </p:nvSpPr>
        <p:spPr>
          <a:xfrm>
            <a:off x="8046720" y="416052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1A2F32"/>
          </a:solidFill>
          <a:ln w="12700">
            <a:solidFill>
              <a:srgbClr val="2D4A4E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8046720" y="4160520"/>
            <a:ext cx="73152" cy="19659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8321040" y="4389120"/>
            <a:ext cx="502920" cy="502920"/>
          </a:xfrm>
          <a:prstGeom prst="ellipse">
            <a:avLst/>
          </a:prstGeom>
          <a:solidFill>
            <a:srgbClr val="0D1B1E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0768" y="4498848"/>
            <a:ext cx="283464" cy="283464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8961120" y="44165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 и Saved</a:t>
            </a:r>
            <a:endParaRPr lang="en-US" sz="1600" dirty="0"/>
          </a:p>
        </p:txBody>
      </p:sp>
      <p:sp>
        <p:nvSpPr>
          <p:cNvPr id="41" name="Text 33"/>
          <p:cNvSpPr/>
          <p:nvPr/>
        </p:nvSpPr>
        <p:spPr>
          <a:xfrm>
            <a:off x="8321040" y="50749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въпросник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/ Dark тема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Обединени запазени пътувания</a:t>
            </a:r>
            <a:endParaRPr lang="en-US" sz="1150" dirty="0"/>
          </a:p>
        </p:txBody>
      </p:sp>
      <p:sp>
        <p:nvSpPr>
          <p:cNvPr id="42" name="Text 34"/>
          <p:cNvSpPr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CareTrip</a:t>
            </a:r>
            <a:endParaRPr lang="en-US" sz="1000" dirty="0"/>
          </a:p>
        </p:txBody>
      </p:sp>
      <p:sp>
        <p:nvSpPr>
          <p:cNvPr id="43" name="Text 3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  <p:sp>
        <p:nvSpPr>
          <p:cNvPr id="44" name="Text 36"/>
          <p:cNvSpPr/>
          <p:nvPr/>
        </p:nvSpPr>
        <p:spPr>
          <a:xfrm>
            <a:off x="425196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together. Travel smarter.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ПОТРЕБИТЕЛСКИ ПОТОК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Как работи нашият проект?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5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планерът води потребителя през 7 стъпки — от идея до резервация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00100" y="2606040"/>
            <a:ext cx="10561320" cy="3657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194560"/>
            <a:ext cx="822960" cy="822960"/>
          </a:xfrm>
          <a:prstGeom prst="ellipse">
            <a:avLst/>
          </a:prstGeom>
          <a:solidFill>
            <a:srgbClr val="1A2F32"/>
          </a:solidFill>
          <a:ln w="254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25780" y="31089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8620" y="34290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Колко можеш да отделиш?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0" y="2194560"/>
            <a:ext cx="822960" cy="822960"/>
          </a:xfrm>
          <a:prstGeom prst="ellipse">
            <a:avLst/>
          </a:prstGeom>
          <a:solidFill>
            <a:srgbClr val="1A2F32"/>
          </a:solidFill>
          <a:ln w="2540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125980" y="31089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Дни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88820" y="34290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Колко дни ще пътуваш?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069080" y="2194560"/>
            <a:ext cx="822960" cy="822960"/>
          </a:xfrm>
          <a:prstGeom prst="ellipse">
            <a:avLst/>
          </a:prstGeom>
          <a:solidFill>
            <a:srgbClr val="1A2F32"/>
          </a:solidFill>
          <a:ln w="25400">
            <a:solidFill>
              <a:srgbClr val="52B7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6908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726180" y="31089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Пътуващи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89020" y="34290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 или в група?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0" y="2194560"/>
            <a:ext cx="822960" cy="822960"/>
          </a:xfrm>
          <a:prstGeom prst="ellipse">
            <a:avLst/>
          </a:prstGeom>
          <a:solidFill>
            <a:srgbClr val="1A2F32"/>
          </a:solidFill>
          <a:ln w="25400">
            <a:solidFill>
              <a:srgbClr val="52B7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326380" y="31089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Транспорт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89220" y="34290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Самолет, автобус, кола?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269480" y="2194560"/>
            <a:ext cx="822960" cy="822960"/>
          </a:xfrm>
          <a:prstGeom prst="ellipse">
            <a:avLst/>
          </a:prstGeom>
          <a:solidFill>
            <a:srgbClr val="1A2F32"/>
          </a:solidFill>
          <a:ln w="25400">
            <a:solidFill>
              <a:srgbClr val="52B7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6948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926580" y="31089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Време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89420" y="34290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Кога искаш да тръгнеш?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869680" y="2194560"/>
            <a:ext cx="822960" cy="822960"/>
          </a:xfrm>
          <a:prstGeom prst="ellipse">
            <a:avLst/>
          </a:prstGeom>
          <a:solidFill>
            <a:srgbClr val="1A2F32"/>
          </a:solidFill>
          <a:ln w="25400">
            <a:solidFill>
              <a:srgbClr val="52B7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6968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8526780" y="31089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Дестинация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389620" y="34290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Къде мечтаеш да отидеш?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0469880" y="2194560"/>
            <a:ext cx="822960" cy="822960"/>
          </a:xfrm>
          <a:prstGeom prst="ellipse">
            <a:avLst/>
          </a:prstGeom>
          <a:solidFill>
            <a:srgbClr val="52B788"/>
          </a:solidFill>
          <a:ln w="25400">
            <a:solidFill>
              <a:srgbClr val="52B7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46988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1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10126980" y="31089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Планиране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989820" y="34290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генерира пълния план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4389120"/>
            <a:ext cx="11064240" cy="1828800"/>
          </a:xfrm>
          <a:prstGeom prst="roundRect">
            <a:avLst>
              <a:gd name="adj" fmla="val 6000"/>
            </a:avLst>
          </a:prstGeom>
          <a:solidFill>
            <a:srgbClr val="1A2F32"/>
          </a:solidFill>
          <a:ln w="12700">
            <a:solidFill>
              <a:srgbClr val="2D4A4E"/>
            </a:solidFill>
            <a:prstDash val="solid"/>
          </a:ln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572000"/>
            <a:ext cx="365760" cy="36576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1234440" y="4572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Какво връща AI? — структурирана JSON схема с реални данни</a:t>
            </a:r>
            <a:endParaRPr lang="en-US" sz="1500" dirty="0"/>
          </a:p>
        </p:txBody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120640"/>
            <a:ext cx="201168" cy="201168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1069848" y="5074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Заглавие и резюме на пътуването</a:t>
            </a:r>
            <a:endParaRPr lang="en-US" sz="1200" dirty="0"/>
          </a:p>
        </p:txBody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5120640"/>
            <a:ext cx="201168" cy="201168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4818888" y="5074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Опции за транспорт (Skyscanner, Busbud)</a:t>
            </a:r>
            <a:endParaRPr lang="en-US" sz="1200" dirty="0"/>
          </a:p>
        </p:txBody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5120640"/>
            <a:ext cx="201168" cy="201168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8567928" y="5074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Нощувки с цени и линкове</a:t>
            </a:r>
            <a:endParaRPr lang="en-US" sz="1200" dirty="0"/>
          </a:p>
        </p:txBody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623560"/>
            <a:ext cx="201168" cy="201168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1069848" y="5577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Ден-по-ден маршрут с активности</a:t>
            </a:r>
            <a:endParaRPr lang="en-US" sz="1200" dirty="0"/>
          </a:p>
        </p:txBody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6280" y="5623560"/>
            <a:ext cx="201168" cy="201168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4818888" y="5577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Бюджетен разчет</a:t>
            </a:r>
            <a:endParaRPr lang="en-US" sz="1200" dirty="0"/>
          </a:p>
        </p:txBody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320" y="5623560"/>
            <a:ext cx="201168" cy="201168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8567928" y="5577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Персонализиран съвет от профила</a:t>
            </a:r>
            <a:endParaRPr lang="en-US" sz="1200" dirty="0"/>
          </a:p>
        </p:txBody>
      </p:sp>
      <p:sp>
        <p:nvSpPr>
          <p:cNvPr id="50" name="Text 41"/>
          <p:cNvSpPr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CareTrip</a:t>
            </a:r>
            <a:endParaRPr lang="en-US" sz="1000" dirty="0"/>
          </a:p>
        </p:txBody>
      </p:sp>
      <p:sp>
        <p:nvSpPr>
          <p:cNvPr id="51" name="Text 42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  <p:sp>
        <p:nvSpPr>
          <p:cNvPr id="52" name="Text 43"/>
          <p:cNvSpPr/>
          <p:nvPr/>
        </p:nvSpPr>
        <p:spPr>
          <a:xfrm>
            <a:off x="425196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together. Travel smarter.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2D6A4F">
              <a:alpha val="15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4114800"/>
            <a:ext cx="5486400" cy="5486400"/>
          </a:xfrm>
          <a:prstGeom prst="ellipse">
            <a:avLst/>
          </a:prstGeom>
          <a:solidFill>
            <a:srgbClr val="52B788">
              <a:alpha val="10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64592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ВРЕМЕ ЗА ДЕЙСТВИЕ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0" y="2103120"/>
            <a:ext cx="12161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Демо</a:t>
            </a:r>
            <a:endParaRPr lang="en-US" sz="12000" dirty="0"/>
          </a:p>
        </p:txBody>
      </p:sp>
      <p:sp>
        <p:nvSpPr>
          <p:cNvPr id="6" name="Shape 4"/>
          <p:cNvSpPr/>
          <p:nvPr/>
        </p:nvSpPr>
        <p:spPr>
          <a:xfrm>
            <a:off x="5394960" y="4023360"/>
            <a:ext cx="137160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25196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95D5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преглед на CareTrip в действие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103120" y="5257800"/>
            <a:ext cx="640080" cy="6400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8568" y="5413248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880360" y="5349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планиране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983480" y="5257800"/>
            <a:ext cx="640080" cy="6400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541324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60720" y="5349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Групова координация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863840" y="5257800"/>
            <a:ext cx="640080" cy="6400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9288" y="541324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641080" y="5349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checkout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CareTrip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25196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together. Travel smarter.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TECH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Използвани технологии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3566160" cy="4480560"/>
          </a:xfrm>
          <a:prstGeom prst="roundRect">
            <a:avLst>
              <a:gd name="adj" fmla="val 3077"/>
            </a:avLst>
          </a:prstGeom>
          <a:solidFill>
            <a:srgbClr val="1A2F32"/>
          </a:solidFill>
          <a:ln w="12700">
            <a:solidFill>
              <a:srgbClr val="2D4A4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37360"/>
            <a:ext cx="356616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57400"/>
            <a:ext cx="640080" cy="640080"/>
          </a:xfrm>
          <a:prstGeom prst="ellipse">
            <a:avLst/>
          </a:prstGeom>
          <a:solidFill>
            <a:srgbClr val="0D1B1E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221992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2103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5D5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868680" y="3035808"/>
            <a:ext cx="109728" cy="10972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29260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54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97280" y="32278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5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File-based routing (Router v6)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68680" y="3813048"/>
            <a:ext cx="109728" cy="10972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0" y="37033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0.81 + React 19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97280" y="400507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5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UI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68680" y="4590288"/>
            <a:ext cx="109728" cy="10972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97280" y="44805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5.9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97280" y="478231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5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mode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68680" y="5367528"/>
            <a:ext cx="109728" cy="10972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97280" y="52578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Reanimated v4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097280" y="555955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5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FPS анимации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297680" y="1737360"/>
            <a:ext cx="3566160" cy="4480560"/>
          </a:xfrm>
          <a:prstGeom prst="roundRect">
            <a:avLst>
              <a:gd name="adj" fmla="val 3077"/>
            </a:avLst>
          </a:prstGeom>
          <a:solidFill>
            <a:srgbClr val="1A2F32"/>
          </a:solidFill>
          <a:ln w="12700">
            <a:solidFill>
              <a:srgbClr val="2D4A4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297680" y="1737360"/>
            <a:ext cx="356616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572000" y="2057400"/>
            <a:ext cx="640080" cy="640080"/>
          </a:xfrm>
          <a:prstGeom prst="ellipse">
            <a:avLst/>
          </a:prstGeom>
          <a:solidFill>
            <a:srgbClr val="0D1B1E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2221992"/>
            <a:ext cx="310896" cy="310896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349240" y="2103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5D5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&amp; AI</a:t>
            </a:r>
            <a:endParaRPr lang="en-US" sz="2000" dirty="0"/>
          </a:p>
        </p:txBody>
      </p:sp>
      <p:sp>
        <p:nvSpPr>
          <p:cNvPr id="27" name="Shape 23"/>
          <p:cNvSpPr/>
          <p:nvPr/>
        </p:nvSpPr>
        <p:spPr>
          <a:xfrm>
            <a:off x="4617720" y="3035808"/>
            <a:ext cx="109728" cy="10972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846320" y="29260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4846320" y="32278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5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Firestore, Storage, Functions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4617720" y="3813048"/>
            <a:ext cx="109728" cy="10972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846320" y="37033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Functions (Node.js 20)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4846320" y="400507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5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endpoints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4617720" y="4590288"/>
            <a:ext cx="109728" cy="10972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846320" y="44805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</a:t>
            </a:r>
            <a:endParaRPr lang="en-US" sz="1300" dirty="0"/>
          </a:p>
        </p:txBody>
      </p:sp>
      <p:sp>
        <p:nvSpPr>
          <p:cNvPr id="35" name="Text 31"/>
          <p:cNvSpPr/>
          <p:nvPr/>
        </p:nvSpPr>
        <p:spPr>
          <a:xfrm>
            <a:off x="4846320" y="478231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5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планер и discovery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4617720" y="5367528"/>
            <a:ext cx="109728" cy="10972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4846320" y="52578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AsyncStorage</a:t>
            </a:r>
            <a:endParaRPr lang="en-US" sz="1300" dirty="0"/>
          </a:p>
        </p:txBody>
      </p:sp>
      <p:sp>
        <p:nvSpPr>
          <p:cNvPr id="38" name="Text 34"/>
          <p:cNvSpPr/>
          <p:nvPr/>
        </p:nvSpPr>
        <p:spPr>
          <a:xfrm>
            <a:off x="4846320" y="555955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5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Локална persistence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8046720" y="1737360"/>
            <a:ext cx="3566160" cy="4480560"/>
          </a:xfrm>
          <a:prstGeom prst="roundRect">
            <a:avLst>
              <a:gd name="adj" fmla="val 3077"/>
            </a:avLst>
          </a:prstGeom>
          <a:solidFill>
            <a:srgbClr val="1A2F32"/>
          </a:solidFill>
          <a:ln w="12700">
            <a:solidFill>
              <a:srgbClr val="2D4A4E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8046720" y="1737360"/>
            <a:ext cx="356616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8321040" y="2057400"/>
            <a:ext cx="640080" cy="640080"/>
          </a:xfrm>
          <a:prstGeom prst="ellipse">
            <a:avLst/>
          </a:prstGeom>
          <a:solidFill>
            <a:srgbClr val="0D1B1E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2221992"/>
            <a:ext cx="310896" cy="310896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9098280" y="2103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5D5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Услуги и API</a:t>
            </a:r>
            <a:endParaRPr lang="en-US" sz="2000" dirty="0"/>
          </a:p>
        </p:txBody>
      </p:sp>
      <p:sp>
        <p:nvSpPr>
          <p:cNvPr id="44" name="Shape 39"/>
          <p:cNvSpPr/>
          <p:nvPr/>
        </p:nvSpPr>
        <p:spPr>
          <a:xfrm>
            <a:off x="8366760" y="3035808"/>
            <a:ext cx="109728" cy="10972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595360" y="29260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v21</a:t>
            </a:r>
            <a:endParaRPr lang="en-US" sz="1300" dirty="0"/>
          </a:p>
        </p:txBody>
      </p:sp>
      <p:sp>
        <p:nvSpPr>
          <p:cNvPr id="46" name="Text 41"/>
          <p:cNvSpPr/>
          <p:nvPr/>
        </p:nvSpPr>
        <p:spPr>
          <a:xfrm>
            <a:off x="8595360" y="32278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5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Card, Apple Pay, Google Pay</a:t>
            </a:r>
            <a:endParaRPr lang="en-US" sz="1050" dirty="0"/>
          </a:p>
        </p:txBody>
      </p:sp>
      <p:sp>
        <p:nvSpPr>
          <p:cNvPr id="47" name="Shape 42"/>
          <p:cNvSpPr/>
          <p:nvPr/>
        </p:nvSpPr>
        <p:spPr>
          <a:xfrm>
            <a:off x="8366760" y="3813048"/>
            <a:ext cx="109728" cy="10972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8595360" y="37033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Skyscanner API</a:t>
            </a:r>
            <a:endParaRPr lang="en-US" sz="1300" dirty="0"/>
          </a:p>
        </p:txBody>
      </p:sp>
      <p:sp>
        <p:nvSpPr>
          <p:cNvPr id="49" name="Text 44"/>
          <p:cNvSpPr/>
          <p:nvPr/>
        </p:nvSpPr>
        <p:spPr>
          <a:xfrm>
            <a:off x="8595360" y="400507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5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Полети и хотели</a:t>
            </a:r>
            <a:endParaRPr lang="en-US" sz="1050" dirty="0"/>
          </a:p>
        </p:txBody>
      </p:sp>
      <p:sp>
        <p:nvSpPr>
          <p:cNvPr id="50" name="Shape 45"/>
          <p:cNvSpPr/>
          <p:nvPr/>
        </p:nvSpPr>
        <p:spPr>
          <a:xfrm>
            <a:off x="8366760" y="4590288"/>
            <a:ext cx="109728" cy="10972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595360" y="44805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Busbud API</a:t>
            </a:r>
            <a:endParaRPr lang="en-US" sz="1300" dirty="0"/>
          </a:p>
        </p:txBody>
      </p:sp>
      <p:sp>
        <p:nvSpPr>
          <p:cNvPr id="52" name="Text 47"/>
          <p:cNvSpPr/>
          <p:nvPr/>
        </p:nvSpPr>
        <p:spPr>
          <a:xfrm>
            <a:off x="8595360" y="478231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5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Автобусни маршрути</a:t>
            </a:r>
            <a:endParaRPr lang="en-US" sz="1050" dirty="0"/>
          </a:p>
        </p:txBody>
      </p:sp>
      <p:sp>
        <p:nvSpPr>
          <p:cNvPr id="53" name="Shape 48"/>
          <p:cNvSpPr/>
          <p:nvPr/>
        </p:nvSpPr>
        <p:spPr>
          <a:xfrm>
            <a:off x="8366760" y="5367528"/>
            <a:ext cx="109728" cy="10972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8595360" y="52578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/ React Native Maps</a:t>
            </a:r>
            <a:endParaRPr lang="en-US" sz="1300" dirty="0"/>
          </a:p>
        </p:txBody>
      </p:sp>
      <p:sp>
        <p:nvSpPr>
          <p:cNvPr id="55" name="Text 50"/>
          <p:cNvSpPr/>
          <p:nvPr/>
        </p:nvSpPr>
        <p:spPr>
          <a:xfrm>
            <a:off x="8595360" y="555955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5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Интерактивни карти</a:t>
            </a:r>
            <a:endParaRPr lang="en-US" sz="1050" dirty="0"/>
          </a:p>
        </p:txBody>
      </p:sp>
      <p:sp>
        <p:nvSpPr>
          <p:cNvPr id="56" name="Text 51"/>
          <p:cNvSpPr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CareTrip</a:t>
            </a:r>
            <a:endParaRPr lang="en-US" sz="1000" dirty="0"/>
          </a:p>
        </p:txBody>
      </p:sp>
      <p:sp>
        <p:nvSpPr>
          <p:cNvPr id="57" name="Text 52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  <p:sp>
        <p:nvSpPr>
          <p:cNvPr id="58" name="Text 53"/>
          <p:cNvSpPr/>
          <p:nvPr/>
        </p:nvSpPr>
        <p:spPr>
          <a:xfrm>
            <a:off x="425196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together. Travel smarter.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АРХИТЕКТУРА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Процес на работа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5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данните текат през системата — от чат до резервация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03120" y="2103120"/>
            <a:ext cx="7955280" cy="685800"/>
          </a:xfrm>
          <a:prstGeom prst="roundRect">
            <a:avLst>
              <a:gd name="adj" fmla="val 13333"/>
            </a:avLst>
          </a:prstGeom>
          <a:solidFill>
            <a:srgbClr val="1A2F3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03120" y="2103120"/>
            <a:ext cx="109728" cy="6858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23160" y="2221992"/>
            <a:ext cx="457200" cy="457200"/>
          </a:xfrm>
          <a:prstGeom prst="ellipse">
            <a:avLst/>
          </a:prstGeom>
          <a:solidFill>
            <a:srgbClr val="0D1B1E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063240" y="21762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63240" y="24414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5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· React Native · TypeScript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406640" y="2286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· Android · Web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103120" y="2926080"/>
            <a:ext cx="7955280" cy="685800"/>
          </a:xfrm>
          <a:prstGeom prst="roundRect">
            <a:avLst>
              <a:gd name="adj" fmla="val 13333"/>
            </a:avLst>
          </a:prstGeom>
          <a:solidFill>
            <a:srgbClr val="1A2F32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03120" y="2926080"/>
            <a:ext cx="109728" cy="685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23160" y="3044952"/>
            <a:ext cx="457200" cy="457200"/>
          </a:xfrm>
          <a:prstGeom prst="ellipse">
            <a:avLst/>
          </a:prstGeom>
          <a:solidFill>
            <a:srgbClr val="0D1B1E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2316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063240" y="29992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063240" y="32644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5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Firestore · Storage · Cloud Functions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406640" y="3108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синхронизация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103120" y="3749040"/>
            <a:ext cx="7955280" cy="685800"/>
          </a:xfrm>
          <a:prstGeom prst="roundRect">
            <a:avLst>
              <a:gd name="adj" fmla="val 13333"/>
            </a:avLst>
          </a:prstGeom>
          <a:solidFill>
            <a:srgbClr val="1A2F32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03120" y="3749040"/>
            <a:ext cx="109728" cy="685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23160" y="3867912"/>
            <a:ext cx="457200" cy="457200"/>
          </a:xfrm>
          <a:prstGeom prst="ellipse">
            <a:avLst/>
          </a:prstGeom>
          <a:solidFill>
            <a:srgbClr val="0D1B1E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2316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063240" y="38221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TRAVEL APIs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063240" y="40873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5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· Skyscanner · Busbud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406640" y="3931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Планове + реални оферти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103120" y="4572000"/>
            <a:ext cx="7955280" cy="685800"/>
          </a:xfrm>
          <a:prstGeom prst="roundRect">
            <a:avLst>
              <a:gd name="adj" fmla="val 13333"/>
            </a:avLst>
          </a:prstGeom>
          <a:solidFill>
            <a:srgbClr val="1A2F32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03120" y="4572000"/>
            <a:ext cx="109728" cy="6858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23160" y="4690872"/>
            <a:ext cx="457200" cy="457200"/>
          </a:xfrm>
          <a:prstGeom prst="ellipse">
            <a:avLst/>
          </a:prstGeom>
          <a:solidFill>
            <a:srgbClr val="0D1B1E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23160" y="4690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063240" y="46451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063240" y="49103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5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· Apple Pay · Google Pay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406640" y="4754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checkout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2103120"/>
            <a:ext cx="1417320" cy="3154680"/>
          </a:xfrm>
          <a:prstGeom prst="roundRect">
            <a:avLst>
              <a:gd name="adj" fmla="val 6452"/>
            </a:avLst>
          </a:prstGeom>
          <a:solidFill>
            <a:srgbClr val="2D6A4F">
              <a:alpha val="50000"/>
            </a:srgbClr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240280"/>
            <a:ext cx="274320" cy="27432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594360" y="25603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by design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40080" y="2926080"/>
            <a:ext cx="1234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5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fallbacks за Gemini, оферти, Stripe и Firestore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548640" y="5623560"/>
            <a:ext cx="36576" cy="5029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85800" y="5532120"/>
            <a:ext cx="2583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40" name="Text 37"/>
          <p:cNvSpPr/>
          <p:nvPr/>
        </p:nvSpPr>
        <p:spPr>
          <a:xfrm>
            <a:off x="685800" y="5989320"/>
            <a:ext cx="2583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5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Functions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3314700" y="5623560"/>
            <a:ext cx="36576" cy="5029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451860" y="5532120"/>
            <a:ext cx="2583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10+</a:t>
            </a:r>
            <a:endParaRPr lang="en-US" sz="2800" dirty="0"/>
          </a:p>
        </p:txBody>
      </p:sp>
      <p:sp>
        <p:nvSpPr>
          <p:cNvPr id="43" name="Text 40"/>
          <p:cNvSpPr/>
          <p:nvPr/>
        </p:nvSpPr>
        <p:spPr>
          <a:xfrm>
            <a:off x="3451860" y="5989320"/>
            <a:ext cx="2583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5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колекции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6080760" y="5623560"/>
            <a:ext cx="36576" cy="5029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217920" y="5532120"/>
            <a:ext cx="2583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46" name="Text 43"/>
          <p:cNvSpPr/>
          <p:nvPr/>
        </p:nvSpPr>
        <p:spPr>
          <a:xfrm>
            <a:off x="6217920" y="5989320"/>
            <a:ext cx="2583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5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Платформи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8846820" y="5623560"/>
            <a:ext cx="36576" cy="5029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983980" y="5532120"/>
            <a:ext cx="2583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BG</a:t>
            </a:r>
            <a:endParaRPr lang="en-US" sz="2800" dirty="0"/>
          </a:p>
        </p:txBody>
      </p:sp>
      <p:sp>
        <p:nvSpPr>
          <p:cNvPr id="49" name="Text 46"/>
          <p:cNvSpPr/>
          <p:nvPr/>
        </p:nvSpPr>
        <p:spPr>
          <a:xfrm>
            <a:off x="8983980" y="5989320"/>
            <a:ext cx="2583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5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UI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CareTrip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425196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together. Travel smarter.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ЗАД КУЛИСИТЕ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Вашето преживяване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3611880" cy="4526280"/>
          </a:xfrm>
          <a:prstGeom prst="roundRect">
            <a:avLst>
              <a:gd name="adj" fmla="val 3038"/>
            </a:avLst>
          </a:prstGeom>
          <a:solidFill>
            <a:srgbClr val="1A2F32"/>
          </a:solidFill>
          <a:ln w="12700">
            <a:solidFill>
              <a:srgbClr val="2D4A4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361188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92808" y="2148840"/>
            <a:ext cx="914400" cy="914400"/>
          </a:xfrm>
          <a:prstGeom prst="ellipse">
            <a:avLst/>
          </a:prstGeom>
          <a:solidFill>
            <a:srgbClr val="0D1B1E"/>
          </a:solidFill>
          <a:ln w="25400">
            <a:solidFill>
              <a:srgbClr val="52B78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1408" y="23774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2004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Нашият екип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777240" y="36118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triple-drible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057400" y="3959352"/>
            <a:ext cx="548640" cy="274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411480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Трима души, един код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Разпределени роли: frontend, backend, AI интеграции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часа непрекъсната работа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workflow с pull requests и code review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43400" y="1783080"/>
            <a:ext cx="3611880" cy="4526280"/>
          </a:xfrm>
          <a:prstGeom prst="roundRect">
            <a:avLst>
              <a:gd name="adj" fmla="val 3038"/>
            </a:avLst>
          </a:prstGeom>
          <a:solidFill>
            <a:srgbClr val="1A2F32"/>
          </a:solidFill>
          <a:ln w="12700">
            <a:solidFill>
              <a:srgbClr val="2D4A4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43400" y="1783080"/>
            <a:ext cx="361188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687568" y="2148840"/>
            <a:ext cx="914400" cy="914400"/>
          </a:xfrm>
          <a:prstGeom prst="ellipse">
            <a:avLst/>
          </a:prstGeom>
          <a:solidFill>
            <a:srgbClr val="0D1B1E"/>
          </a:solidFill>
          <a:ln w="25400">
            <a:solidFill>
              <a:srgbClr val="52B788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168" y="237744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72000" y="32004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Нашият ментор</a:t>
            </a:r>
            <a:endParaRPr lang="en-US" sz="1900" dirty="0"/>
          </a:p>
        </p:txBody>
      </p:sp>
      <p:sp>
        <p:nvSpPr>
          <p:cNvPr id="18" name="Text 14"/>
          <p:cNvSpPr/>
          <p:nvPr/>
        </p:nvSpPr>
        <p:spPr>
          <a:xfrm>
            <a:off x="4572000" y="36118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Подкрепа и насока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852160" y="3959352"/>
            <a:ext cx="548640" cy="274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617720" y="411480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Ценни съвети за архитектурата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Ревюта на дизайнерски решения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Насоки за priorities в scope-а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Помощ при debug на runtime проблеми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8138160" y="1783080"/>
            <a:ext cx="3611880" cy="4526280"/>
          </a:xfrm>
          <a:prstGeom prst="roundRect">
            <a:avLst>
              <a:gd name="adj" fmla="val 3038"/>
            </a:avLst>
          </a:prstGeom>
          <a:solidFill>
            <a:srgbClr val="1A2F32"/>
          </a:solidFill>
          <a:ln w="12700">
            <a:solidFill>
              <a:srgbClr val="2D4A4E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138160" y="1783080"/>
            <a:ext cx="361188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9482328" y="2148840"/>
            <a:ext cx="914400" cy="914400"/>
          </a:xfrm>
          <a:prstGeom prst="ellipse">
            <a:avLst/>
          </a:prstGeom>
          <a:solidFill>
            <a:srgbClr val="0D1B1E"/>
          </a:solidFill>
          <a:ln w="25400">
            <a:solidFill>
              <a:srgbClr val="52B788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28" y="2377440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366760" y="32004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Какво научихме?</a:t>
            </a:r>
            <a:endParaRPr lang="en-US" sz="1900" dirty="0"/>
          </a:p>
        </p:txBody>
      </p:sp>
      <p:sp>
        <p:nvSpPr>
          <p:cNvPr id="26" name="Text 21"/>
          <p:cNvSpPr/>
          <p:nvPr/>
        </p:nvSpPr>
        <p:spPr>
          <a:xfrm>
            <a:off x="8366760" y="36118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takeaways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9646920" y="3959352"/>
            <a:ext cx="548640" cy="274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412480" y="411480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JSON mode за строги отговори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real-time listeners и offline поведение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deep-linking между web и mobile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 при API timeout-и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CareTrip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425196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together. Travel smarter.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4114800"/>
            <a:ext cx="7315200" cy="7315200"/>
          </a:xfrm>
          <a:prstGeom prst="ellipse">
            <a:avLst/>
          </a:prstGeom>
          <a:solidFill>
            <a:srgbClr val="2D6A4F">
              <a:alpha val="20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-2743200"/>
            <a:ext cx="7315200" cy="7315200"/>
          </a:xfrm>
          <a:prstGeom prst="ellipse">
            <a:avLst/>
          </a:prstGeom>
          <a:solidFill>
            <a:srgbClr val="52B788">
              <a:alpha val="12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-914400"/>
            <a:ext cx="3657600" cy="3657600"/>
          </a:xfrm>
          <a:prstGeom prst="ellipse">
            <a:avLst/>
          </a:prstGeom>
          <a:solidFill>
            <a:srgbClr val="2D6A4F">
              <a:alpha val="25000"/>
            </a:srgbClr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118872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103120"/>
            <a:ext cx="12161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Благодарим ви</a:t>
            </a:r>
            <a:endParaRPr lang="en-US" sz="8000" dirty="0"/>
          </a:p>
        </p:txBody>
      </p:sp>
      <p:sp>
        <p:nvSpPr>
          <p:cNvPr id="7" name="Text 4"/>
          <p:cNvSpPr/>
          <p:nvPr/>
        </p:nvSpPr>
        <p:spPr>
          <a:xfrm>
            <a:off x="0" y="3200400"/>
            <a:ext cx="1216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i="1" dirty="0">
                <a:solidFill>
                  <a:srgbClr val="95D5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 вниманието!</a:t>
            </a:r>
            <a:endParaRPr lang="en-US" sz="5600" dirty="0"/>
          </a:p>
        </p:txBody>
      </p:sp>
      <p:sp>
        <p:nvSpPr>
          <p:cNvPr id="8" name="Shape 5"/>
          <p:cNvSpPr/>
          <p:nvPr/>
        </p:nvSpPr>
        <p:spPr>
          <a:xfrm>
            <a:off x="5394960" y="4160520"/>
            <a:ext cx="137160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0" y="443484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95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together. Travel smarter. Share every moment.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794760" y="5212080"/>
            <a:ext cx="4572000" cy="685800"/>
          </a:xfrm>
          <a:prstGeom prst="roundRect">
            <a:avLst>
              <a:gd name="adj" fmla="val 49333"/>
            </a:avLst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94760" y="52120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Готови сме за вашите въпроси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0" y="6172200"/>
            <a:ext cx="1216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CareTrip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0" y="644652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triple-drible  ·  HackTUES 12  ·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CareTrip — AI-powered group travel planning</dc:title>
  <dc:subject>PptxGenJS Presentation</dc:subject>
  <dc:creator>CareTrip Team</dc:creator>
  <cp:lastModifiedBy>CareTrip Team</cp:lastModifiedBy>
  <cp:revision>1</cp:revision>
  <dcterms:created xsi:type="dcterms:W3CDTF">2026-04-17T11:53:53Z</dcterms:created>
  <dcterms:modified xsi:type="dcterms:W3CDTF">2026-04-17T11:53:53Z</dcterms:modified>
</cp:coreProperties>
</file>